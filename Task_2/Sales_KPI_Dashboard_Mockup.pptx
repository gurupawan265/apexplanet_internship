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10905581</c:v>
                </c:pt>
                <c:pt idx="1">
                  <c:v>11511181</c:v>
                </c:pt>
                <c:pt idx="2">
                  <c:v>13059900</c:v>
                </c:pt>
                <c:pt idx="3">
                  <c:v>12222700</c:v>
                </c:pt>
                <c:pt idx="4">
                  <c:v>10984689</c:v>
                </c:pt>
                <c:pt idx="5">
                  <c:v>12912333</c:v>
                </c:pt>
                <c:pt idx="6">
                  <c:v>11746227</c:v>
                </c:pt>
                <c:pt idx="7">
                  <c:v>9448471</c:v>
                </c:pt>
                <c:pt idx="8">
                  <c:v>9179896</c:v>
                </c:pt>
                <c:pt idx="9">
                  <c:v>12500937</c:v>
                </c:pt>
                <c:pt idx="10">
                  <c:v>12627620</c:v>
                </c:pt>
                <c:pt idx="11">
                  <c:v>12299904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F4B942"/>
              </a:solidFill>
              <a:effectLst/>
            </c:spPr>
          </c:dPt>
          <c:dPt>
            <c:idx val="3"/>
            <c:bubble3D val="0"/>
            <c:spPr>
              <a:solidFill>
                <a:srgbClr val="70AD47"/>
              </a:solidFill>
              <a:effectLst/>
            </c:spPr>
          </c:dPt>
          <c:dPt>
            <c:idx val="4"/>
            <c:bubble3D val="0"/>
            <c:spPr>
              <a:solidFill>
                <a:srgbClr val="8064A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50778582</c:v>
                </c:pt>
                <c:pt idx="1">
                  <c:v>25031689</c:v>
                </c:pt>
                <c:pt idx="2">
                  <c:v>22231711</c:v>
                </c:pt>
                <c:pt idx="3">
                  <c:v>21521561</c:v>
                </c:pt>
                <c:pt idx="4">
                  <c:v>19835896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19285967</c:v>
                </c:pt>
                <c:pt idx="1">
                  <c:v>18884350</c:v>
                </c:pt>
                <c:pt idx="2">
                  <c:v>18773574</c:v>
                </c:pt>
                <c:pt idx="3">
                  <c:v>18757050</c:v>
                </c:pt>
                <c:pt idx="4">
                  <c:v>17166767</c:v>
                </c:pt>
                <c:pt idx="5">
                  <c:v>16097079</c:v>
                </c:pt>
                <c:pt idx="6">
                  <c:v>14513176</c:v>
                </c:pt>
                <c:pt idx="7">
                  <c:v>14380859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Premium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273</c:v>
                </c:pt>
                <c:pt idx="1">
                  <c:v>359</c:v>
                </c:pt>
                <c:pt idx="2">
                  <c:v>259</c:v>
                </c:pt>
                <c:pt idx="3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Proposed Metrics &amp; Mock-up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  |  Data Analytics Internship — Task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188720" cy="1188720"/>
          </a:xfrm>
          <a:prstGeom prst="ellipse">
            <a:avLst/>
          </a:prstGeom>
          <a:solidFill>
            <a:srgbClr val="F4B942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KPIs to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direct impact on revenue, customer growth, and operational efficiency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5453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18745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completed sales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61872" y="22402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top-line growth measure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618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5432" y="15453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85432" y="18745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÷ Number of Orders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85432" y="22402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upsell &amp; pricing effectiveness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2990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29169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Units Sold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3246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orders and total quantity moved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61872" y="36118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volume and fulfillment load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7889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73368" y="2990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5432" y="29169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85432" y="3246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 transacting in period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85432" y="36118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and acquisition tracking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61872" y="42885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6187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split across product categories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49834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lines drive growth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1605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73368" y="43616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37336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5432" y="42885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Tier Mix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85432" y="4617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in Low/Medium/High/Premium tiers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85432" y="49834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customer value concentration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" y="57332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733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61872" y="56601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61872" y="59893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tracked month-over-month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261872" y="63550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seasonality and momentum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5532120"/>
            <a:ext cx="5349240" cy="1207008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73368" y="57332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6373368" y="5733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85432" y="56601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City/Product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9893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revenue-generating segments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85432" y="63550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regional &amp; inventory strategy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KPI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 |  All Regions  |  All Categories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069848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289304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₹13.94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691640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1069848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02152" y="1289304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02152" y="1691640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unique 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1069848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82512" y="1289304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₹1,39,399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82512" y="1691640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98280" y="96012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62872" y="1069848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62872" y="1289304"/>
            <a:ext cx="2368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62872" y="1691640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products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5989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2103120"/>
            <a:ext cx="51023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1945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(₹)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66928" y="2487168"/>
          <a:ext cx="57607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830568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2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766560" y="2487168"/>
          <a:ext cx="48463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3"/>
          <p:cNvSpPr/>
          <p:nvPr/>
        </p:nvSpPr>
        <p:spPr>
          <a:xfrm>
            <a:off x="457200" y="4434840"/>
            <a:ext cx="5989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629400" y="4434840"/>
            <a:ext cx="51023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58368" y="45262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(₹)</a:t>
            </a:r>
            <a:endParaRPr lang="en-US" sz="1200" dirty="0"/>
          </a:p>
        </p:txBody>
      </p:sp>
      <p:graphicFrame>
        <p:nvGraphicFramePr>
          <p:cNvPr id="30" name="Chart 2" descr=""/>
          <p:cNvGraphicFramePr/>
          <p:nvPr/>
        </p:nvGraphicFramePr>
        <p:xfrm>
          <a:off x="566928" y="4818888"/>
          <a:ext cx="57607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Text 26"/>
          <p:cNvSpPr/>
          <p:nvPr/>
        </p:nvSpPr>
        <p:spPr>
          <a:xfrm>
            <a:off x="6830568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Revenue Tier</a:t>
            </a:r>
            <a:endParaRPr lang="en-US" sz="120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6766560" y="4818888"/>
          <a:ext cx="48463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EDA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informed the dashboard's KPI selection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91" cy="91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292608" cy="292608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5636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alone contributes ₹5.08 Cr (36% of total revenue) — more than Education + Grocery combined.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17320"/>
            <a:ext cx="91" cy="91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355080" y="1600200"/>
            <a:ext cx="292608" cy="29260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5636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&amp; Price both drive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9842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correlates strongly with both Quantity (r=0.65) and Unit_Price (r=0.69) — neither factor alone explains revenue.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91" cy="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731520" y="3200400"/>
            <a:ext cx="292608" cy="29260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has no impact on spend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844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Age and Total_Sales is ~0.00 — all age groups spend similarly; age-based targeting won't move revenue.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017520"/>
            <a:ext cx="91" cy="91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355080" y="3200400"/>
            <a:ext cx="292608" cy="292608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163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 city-wise revenue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5844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(₹1.93 Cr) edges out Kolkata and Bengaluru as the top revenue city, despite having fewer unique customers than some peers.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617720"/>
            <a:ext cx="91" cy="91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731520" y="4800600"/>
            <a:ext cx="292608" cy="292608"/>
          </a:xfrm>
          <a:prstGeom prst="ellipse">
            <a:avLst/>
          </a:prstGeom>
          <a:solidFill>
            <a:srgbClr val="8064A2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764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 of orders are Premium-tier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1846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of 1,000 orders exceed ₹3,00,000 — a small but high-value segment worth dedicated retention focus.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617720"/>
            <a:ext cx="91" cy="91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6355080" y="48006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764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was the strongest month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518464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peaked in March (₹1.31 Cr); August–September show a seasonal dip worth investigating.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KPI Dashboard Mock-up</dc:title>
  <dc:subject>PptxGenJS Presentation</dc:subject>
  <dc:creator>ApexPlanet Analytics Intern</dc:creator>
  <cp:lastModifiedBy>ApexPlanet Analytics Intern</cp:lastModifiedBy>
  <cp:revision>1</cp:revision>
  <dcterms:created xsi:type="dcterms:W3CDTF">2026-06-23T05:03:53Z</dcterms:created>
  <dcterms:modified xsi:type="dcterms:W3CDTF">2026-06-23T05:03:53Z</dcterms:modified>
</cp:coreProperties>
</file>